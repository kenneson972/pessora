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609905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38405" cy="6099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25505" y="6362395"/>
            <a:ext cx="609905" cy="384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6090" y="5790895"/>
            <a:ext cx="38405" cy="6099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3695" y="0"/>
            <a:ext cx="1524305" cy="15243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42846" y="1904695"/>
            <a:ext cx="8706002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500" b="1" spc="-112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une base de données pour PESSORA ?</a:t>
            </a:r>
            <a:endParaRPr lang="en-US" sz="4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l="0" r="0" t="-413" b="-413"/>
          <a:stretch/>
        </p:blipFill>
        <p:spPr>
          <a:xfrm>
            <a:off x="5486400" y="3562502"/>
            <a:ext cx="1218895" cy="576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3103" y="3924605"/>
            <a:ext cx="64300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Sécurité, évolutivité et autonomie du site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4288536" y="6238951"/>
            <a:ext cx="3619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36746" y="5896051"/>
            <a:ext cx="3924605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35" kern="0" dirty="0">
                <a:solidFill>
                  <a:srgbClr val="000000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Dossier Technique &amp; Stratégique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485900"/>
            <a:ext cx="10972800" cy="19202"/>
          </a:xfrm>
          <a:prstGeom prst="rect">
            <a:avLst/>
          </a:prstGeom>
          <a:solidFill>
            <a:srgbClr val="E5E7EB">
              <a:alpha val="2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609905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Aujourd’hui, tout est « en dur »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106710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Situation technique actuelle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90295" y="1733702"/>
            <a:ext cx="65535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Données statiques :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Menu, produits, événements et infos du bar sont définis dans des fichiers TypeScript.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82319" y="2391156"/>
            <a:ext cx="6399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src/data/menuData.ts, src/data/infoData.ts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990295" y="2428646"/>
            <a:ext cx="114300" cy="152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90295" y="2809951"/>
            <a:ext cx="65535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Processus rigide :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Événements, partenariats et horaires suivent la même logique.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990295" y="3619195"/>
            <a:ext cx="65535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Mises à jour complexes :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Changer un prix ou une boisson nécessite de modifier le code source, puis de redéployer tout le site.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90295" y="4429354"/>
            <a:ext cx="65535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Risques opérationnels :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Dépendance totale au développeur et risque d'erreur lors des déploiements pour des changements mineurs.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 rot="120000">
            <a:off x="7875727" y="1823314"/>
            <a:ext cx="3755441" cy="298368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965338" y="1823314"/>
            <a:ext cx="3666744" cy="437998"/>
          </a:xfrm>
          <a:prstGeom prst="roundRect">
            <a:avLst>
              <a:gd name="adj" fmla="val 36307"/>
            </a:avLst>
          </a:prstGeom>
          <a:solidFill>
            <a:srgbClr val="2D2D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84210" y="1902866"/>
            <a:ext cx="105156" cy="10515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236001" y="1908353"/>
            <a:ext cx="105156" cy="10515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388706" y="1913839"/>
            <a:ext cx="105156" cy="10515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691372" y="1924812"/>
            <a:ext cx="1314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src/data/menuData.ts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8179308" y="2363724"/>
            <a:ext cx="32863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export const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8171993" y="2554834"/>
            <a:ext cx="32863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menuData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8165592" y="2745029"/>
            <a:ext cx="32863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 [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8310982" y="2940710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8304581" y="3130906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id: </a:t>
            </a:r>
            <a:pPr algn="l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"latte"</a:t>
            </a:r>
            <a:pPr algn="l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298180" y="3321101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name: </a:t>
            </a:r>
            <a:pPr algn="l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"Matcha Latte"</a:t>
            </a:r>
            <a:pPr algn="l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8291779" y="3511296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price: </a:t>
            </a:r>
            <a:pPr algn="l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5.50</a:t>
            </a:r>
            <a:pPr algn="l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284464" y="3702406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Changer ici nécessite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8278063" y="3892601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un redéploiement !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8271662" y="4082796"/>
            <a:ext cx="31345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},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8112557" y="4267505"/>
            <a:ext cx="32863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];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9150401" y="4895698"/>
            <a:ext cx="25466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 source verrouillé</a:t>
            </a:r>
            <a:endParaRPr lang="en-US" sz="10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8960206" y="4922215"/>
            <a:ext cx="114300" cy="13350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09905" y="5391302"/>
            <a:ext cx="10972800" cy="12957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09905" y="5391302"/>
            <a:ext cx="75895" cy="1295705"/>
          </a:xfrm>
          <a:prstGeom prst="rect">
            <a:avLst/>
          </a:prstGeom>
          <a:solidFill>
            <a:srgbClr val="2D472C"/>
          </a:solidFill>
          <a:ln w="12700">
            <a:solidFill>
              <a:srgbClr val="2D472C">
                <a:alpha val="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914400" y="5757977"/>
            <a:ext cx="533095" cy="562356"/>
          </a:xfrm>
          <a:prstGeom prst="roundRect">
            <a:avLst>
              <a:gd name="adj" fmla="val 171527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67105" y="5910682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676095" y="5619902"/>
            <a:ext cx="9792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Constat Critique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676095" y="5924398"/>
            <a:ext cx="97539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site ne peut pas évoluer de manière autonome. Chaque modification de contenu, aussi minime soit-elle, impose de toucher à la structure même du code.</a:t>
            </a:r>
            <a:endParaRPr lang="en-US" sz="13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218895"/>
            <a:ext cx="10972800" cy="19202"/>
          </a:xfrm>
          <a:prstGeom prst="rect">
            <a:avLst/>
          </a:prstGeom>
          <a:solidFill>
            <a:srgbClr val="E5E7EB">
              <a:alpha val="2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L’admin est prêt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87599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sans base de données, il tourne à vide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90295" y="1543507"/>
            <a:ext cx="4810658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existante :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L'espace administrateur est déjà développé pour gérer les produits, événements et l'upload d'images.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90295" y="2531059"/>
            <a:ext cx="48106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Supabase :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Tout est conçu pour fonctionner avec les tables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et le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245" y="2876702"/>
            <a:ext cx="724205" cy="1810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87245" y="2876702"/>
            <a:ext cx="7242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products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831" y="2876702"/>
            <a:ext cx="562356" cy="1810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992831" y="2876702"/>
            <a:ext cx="5623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events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9469" y="2876702"/>
            <a:ext cx="638251" cy="1810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79469" y="2876702"/>
            <a:ext cx="638251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storage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990295" y="3240634"/>
            <a:ext cx="4810658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Problème actuel :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 client Supabase est un "mock" (</a:t>
            </a:r>
            <a:pPr algn="l" indent="0" marL="0">
              <a:buNone/>
            </a:pPr>
            <a:r>
              <a:rPr lang="en-US" sz="1000" i="1" dirty="0">
                <a:solidFill>
                  <a:srgbClr val="2D472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src/lib/supabaseClient.ts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 Les ajouts ne sont pas sauvegardés et le site continue d'afficher les fichiers statiques.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990295" y="4507992"/>
            <a:ext cx="48106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Objectif :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Connecter une vraie base pour permettre à l'équipe PessÓra de mettre à jour le site instantanément.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-3" r="-3" t="0" b="0"/>
          <a:stretch/>
        </p:blipFill>
        <p:spPr>
          <a:xfrm>
            <a:off x="6327648" y="1619402"/>
            <a:ext cx="5254142" cy="213329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337706" y="1628546"/>
            <a:ext cx="5238598" cy="342900"/>
          </a:xfrm>
          <a:prstGeom prst="roundRect">
            <a:avLst>
              <a:gd name="adj" fmla="val 59259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480353" y="1723644"/>
            <a:ext cx="1095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PessÓra Admin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11277295" y="1723644"/>
            <a:ext cx="152705" cy="152705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337706" y="1971446"/>
            <a:ext cx="1314907" cy="1772107"/>
          </a:xfrm>
          <a:prstGeom prst="roundRect">
            <a:avLst>
              <a:gd name="adj" fmla="val 4031"/>
            </a:avLst>
          </a:prstGeom>
          <a:solidFill>
            <a:srgbClr val="F3F4F6"/>
          </a:solidFill>
          <a:ln/>
        </p:spPr>
      </p:sp>
      <p:sp>
        <p:nvSpPr>
          <p:cNvPr id="23" name="Shape 15"/>
          <p:cNvSpPr/>
          <p:nvPr/>
        </p:nvSpPr>
        <p:spPr>
          <a:xfrm>
            <a:off x="7643470" y="1971446"/>
            <a:ext cx="9144" cy="1772107"/>
          </a:xfrm>
          <a:prstGeom prst="roundRect">
            <a:avLst>
              <a:gd name="adj" fmla="val 579710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61" r="-61" t="0" b="0"/>
          <a:stretch/>
        </p:blipFill>
        <p:spPr>
          <a:xfrm>
            <a:off x="6432804" y="2066544"/>
            <a:ext cx="831190" cy="95098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-57" r="-57" t="0" b="0"/>
          <a:stretch/>
        </p:blipFill>
        <p:spPr>
          <a:xfrm>
            <a:off x="6432804" y="2238451"/>
            <a:ext cx="554126" cy="95098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-63" r="-63" t="0" b="0"/>
          <a:stretch/>
        </p:blipFill>
        <p:spPr>
          <a:xfrm>
            <a:off x="6432804" y="2409444"/>
            <a:ext cx="738835" cy="95098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7788859" y="2115007"/>
            <a:ext cx="629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Produits</a:t>
            </a:r>
            <a:endParaRPr lang="en-US" sz="10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52430" y="2115007"/>
            <a:ext cx="685800" cy="26700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0752430" y="2115007"/>
            <a:ext cx="6858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Ajouter +</a:t>
            </a:r>
            <a:endParaRPr lang="en-US" sz="9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rcRect l="-85" r="-85" t="0" b="0"/>
          <a:stretch/>
        </p:blipFill>
        <p:spPr>
          <a:xfrm>
            <a:off x="7788859" y="2533802"/>
            <a:ext cx="3641141" cy="95098"/>
          </a:xfrm>
          <a:prstGeom prst="rect">
            <a:avLst/>
          </a:prstGeom>
        </p:spPr>
      </p:pic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rcRect l="-85" r="-85" t="0" b="0"/>
          <a:stretch/>
        </p:blipFill>
        <p:spPr>
          <a:xfrm>
            <a:off x="7788859" y="2704795"/>
            <a:ext cx="3641141" cy="95098"/>
          </a:xfrm>
          <a:prstGeom prst="rect">
            <a:avLst/>
          </a:prstGeom>
        </p:spPr>
      </p:pic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rcRect l="-85" r="-85" t="0" b="0"/>
          <a:stretch/>
        </p:blipFill>
        <p:spPr>
          <a:xfrm>
            <a:off x="7788859" y="2876702"/>
            <a:ext cx="3641141" cy="95098"/>
          </a:xfrm>
          <a:prstGeom prst="rect">
            <a:avLst/>
          </a:prstGeom>
        </p:spPr>
      </p:pic>
      <p:sp>
        <p:nvSpPr>
          <p:cNvPr id="33" name="Shape 18"/>
          <p:cNvSpPr/>
          <p:nvPr/>
        </p:nvSpPr>
        <p:spPr>
          <a:xfrm>
            <a:off x="7722108" y="2048256"/>
            <a:ext cx="3933749" cy="1772107"/>
          </a:xfrm>
          <a:prstGeom prst="roundRect">
            <a:avLst>
              <a:gd name="adj" fmla="val 1110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F87171"/>
            </a:solidFill>
            <a:prstDash val="solid"/>
          </a:ln>
        </p:spPr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530" b="-530"/>
          <a:stretch/>
        </p:blipFill>
        <p:spPr>
          <a:xfrm>
            <a:off x="9561881" y="2562149"/>
            <a:ext cx="247802" cy="286207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8584387" y="2924251"/>
            <a:ext cx="2209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Données non persistées</a:t>
            </a:r>
            <a:endParaRPr lang="en-US" sz="1200" dirty="0"/>
          </a:p>
        </p:txBody>
      </p:sp>
      <p:sp>
        <p:nvSpPr>
          <p:cNvPr id="36" name="Text 20"/>
          <p:cNvSpPr txBox="1"/>
          <p:nvPr/>
        </p:nvSpPr>
        <p:spPr>
          <a:xfrm>
            <a:off x="9042502" y="3152851"/>
            <a:ext cx="15416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 Simulation (Mock)</a:t>
            </a:r>
            <a:endParaRPr lang="en-US" sz="9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>
            <a:alphaModFix amt="50000"/>
          </a:blip>
          <a:srcRect l="-57" r="-57" t="0" b="0"/>
          <a:stretch/>
        </p:blipFill>
        <p:spPr>
          <a:xfrm>
            <a:off x="6099048" y="3347618"/>
            <a:ext cx="200254" cy="228600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6594653" y="3866998"/>
            <a:ext cx="47247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L'interface est une coquille vide tant qu'elle n'est pas reliée à la base de données réelle.</a:t>
            </a:r>
            <a:endParaRPr lang="en-US" sz="1000" dirty="0"/>
          </a:p>
        </p:txBody>
      </p:sp>
      <p:sp>
        <p:nvSpPr>
          <p:cNvPr id="39" name="Shape 22"/>
          <p:cNvSpPr/>
          <p:nvPr/>
        </p:nvSpPr>
        <p:spPr>
          <a:xfrm>
            <a:off x="609905" y="5486400"/>
            <a:ext cx="10972800" cy="8385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0" name="Shape 23"/>
          <p:cNvSpPr/>
          <p:nvPr/>
        </p:nvSpPr>
        <p:spPr>
          <a:xfrm>
            <a:off x="609905" y="5486400"/>
            <a:ext cx="75895" cy="838505"/>
          </a:xfrm>
          <a:prstGeom prst="rect">
            <a:avLst/>
          </a:prstGeom>
          <a:solidFill>
            <a:srgbClr val="2D472C"/>
          </a:solidFill>
          <a:ln w="12700">
            <a:solidFill>
              <a:srgbClr val="2D472C">
                <a:alpha val="0"/>
              </a:srgbClr>
            </a:solidFill>
            <a:prstDash val="solid"/>
          </a:ln>
        </p:spPr>
      </p:sp>
      <p:sp>
        <p:nvSpPr>
          <p:cNvPr id="41" name="Shape 24"/>
          <p:cNvSpPr/>
          <p:nvPr/>
        </p:nvSpPr>
        <p:spPr>
          <a:xfrm>
            <a:off x="838505" y="5676595"/>
            <a:ext cx="418795" cy="457200"/>
          </a:xfrm>
          <a:prstGeom prst="roundRect">
            <a:avLst>
              <a:gd name="adj" fmla="val 218341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52805" y="5796382"/>
            <a:ext cx="190195" cy="190195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1447495" y="5639105"/>
            <a:ext cx="6868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Bénéfice Immédiat</a:t>
            </a:r>
            <a:endParaRPr lang="en-US" sz="1300" dirty="0"/>
          </a:p>
        </p:txBody>
      </p:sp>
      <p:sp>
        <p:nvSpPr>
          <p:cNvPr id="44" name="Text 26"/>
          <p:cNvSpPr txBox="1"/>
          <p:nvPr/>
        </p:nvSpPr>
        <p:spPr>
          <a:xfrm>
            <a:off x="1447495" y="5943600"/>
            <a:ext cx="7439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BDD active l’admin : l'équipe devient autonome et le site vit en temps réel sans développeur.</a:t>
            </a:r>
            <a:endParaRPr lang="en-US" sz="12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333195"/>
            <a:ext cx="10972800" cy="19202"/>
          </a:xfrm>
          <a:prstGeom prst="rect">
            <a:avLst/>
          </a:prstGeom>
          <a:solidFill>
            <a:srgbClr val="E5E7EB">
              <a:alpha val="2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Vrais comptes et fidélité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914400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l'utilisateur "invité" au membre engagé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90295" y="1690726"/>
            <a:ext cx="64392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Limitation actuelle (Mock) :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90295" y="1964131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Connexion factice (localStorage). Si l'utilisateur change de téléphone ou vide son cache, il perd tout. 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src/contexts/AuthContext.tsx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90295" y="2802636"/>
            <a:ext cx="64392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Authentification Réelle (Supabase) :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90295" y="3076956"/>
            <a:ext cx="6880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Comptes sécurisés, profils persistants et synchronisation multi-appareils.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90295" y="3457346"/>
            <a:ext cx="64392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Fidélité (Óra+) :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90295" y="373166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Stockage centralisé des points, historique des achats et gestion des niveaux (Starter, Premium, VIP).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90295" y="4340657"/>
            <a:ext cx="64392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Sécurité des Données :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90295" y="4614977"/>
            <a:ext cx="6439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Protection des données sensibles (RGPD) via Row Level Security (RLS).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7" r="-7" t="0" b="0"/>
          <a:stretch/>
        </p:blipFill>
        <p:spPr>
          <a:xfrm>
            <a:off x="7925105" y="2066544"/>
            <a:ext cx="3657600" cy="21332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5300" y="2257654"/>
            <a:ext cx="1438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PESSÓRA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115300" y="2486254"/>
            <a:ext cx="1438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MEMBER CLUB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0626242" y="2800807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Statut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0613441" y="3029407"/>
            <a:ext cx="784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Óra+ VIP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115300" y="3286354"/>
            <a:ext cx="3391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35" kern="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**** **** **** 4829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115300" y="3629254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Membre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115300" y="3857854"/>
            <a:ext cx="9546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Sophie Martin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0728655" y="3629254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0728655" y="3857854"/>
            <a:ext cx="6675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1,250 PTS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7844" b="-27844"/>
          <a:stretch/>
        </p:blipFill>
        <p:spPr>
          <a:xfrm>
            <a:off x="11239805" y="2257654"/>
            <a:ext cx="152705" cy="19019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115300" y="2790749"/>
            <a:ext cx="381305" cy="286207"/>
          </a:xfrm>
          <a:prstGeom prst="roundRect">
            <a:avLst>
              <a:gd name="adj" fmla="val 63898"/>
            </a:avLst>
          </a:prstGeom>
          <a:solidFill>
            <a:srgbClr val="D4AF3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115300" y="2924251"/>
            <a:ext cx="362102" cy="914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744200" y="3362249"/>
            <a:ext cx="1218895" cy="1218895"/>
          </a:xfrm>
          <a:prstGeom prst="ellips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129370" y="4352544"/>
            <a:ext cx="18480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Données stockées en BDD :</a:t>
            </a:r>
            <a:pPr algn="l" indent="0" marL="0">
              <a:buNone/>
            </a:pPr>
            <a:endParaRPr lang="en-US" sz="9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8918143" y="4367174"/>
            <a:ext cx="105156" cy="114300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4562" y="4543654"/>
            <a:ext cx="22860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14562" y="4543654"/>
            <a:ext cx="2286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table: profiles, loyalty_points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609905" y="5333695"/>
            <a:ext cx="10972800" cy="10671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09905" y="5333695"/>
            <a:ext cx="75895" cy="1067105"/>
          </a:xfrm>
          <a:prstGeom prst="rect">
            <a:avLst/>
          </a:prstGeom>
          <a:solidFill>
            <a:srgbClr val="2D472C"/>
          </a:solidFill>
          <a:ln w="12700">
            <a:solidFill>
              <a:srgbClr val="2D472C">
                <a:alpha val="0"/>
              </a:srgbClr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38505" y="5639105"/>
            <a:ext cx="418795" cy="457200"/>
          </a:xfrm>
          <a:prstGeom prst="roundRect">
            <a:avLst>
              <a:gd name="adj" fmla="val 218341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52805" y="5757977"/>
            <a:ext cx="190195" cy="19019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447495" y="5486400"/>
            <a:ext cx="10096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Business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1447495" y="5790895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 de "vrai" club membre ni de programme de fidélité possible sans une base de données. La BDD transforme des visiteurs anonymes en </a:t>
            </a:r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clients identifiés et fidélisés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2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485900"/>
            <a:ext cx="10972800" cy="19202"/>
          </a:xfrm>
          <a:prstGeom prst="rect">
            <a:avLst/>
          </a:prstGeom>
          <a:solidFill>
            <a:srgbClr val="E5E7EB">
              <a:alpha val="2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609905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Stripe et Apple Wallet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106710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limite du modèle actuel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90295" y="1933956"/>
            <a:ext cx="64008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Rôle de Stripe :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Il gère parfaitement les paiements et le cycle de vie de l'abonnement (actif, impayé, annulé).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990295" y="2781605"/>
            <a:ext cx="64008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 Apple Wallet :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Les cartes membres seront bientôt déployées via un prestataire externe pour être scannées en boutique.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990295" y="3629254"/>
            <a:ext cx="64008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défi technique :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 prestataire Wallet a besoin de données précises (Nom, Niveau, Points) pour générer la carte.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90295" y="4476902"/>
            <a:ext cx="64008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 critique :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Stripe ne porte pas l’identité membre, le niveau de fidélité, ni le lien technique avec la carte Wallet.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925105" y="1733702"/>
            <a:ext cx="3657600" cy="1276502"/>
          </a:xfrm>
          <a:prstGeom prst="roundRect">
            <a:avLst>
              <a:gd name="adj" fmla="val 64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27" r="-27" t="0" b="0"/>
          <a:stretch/>
        </p:blipFill>
        <p:spPr>
          <a:xfrm>
            <a:off x="8162849" y="1971446"/>
            <a:ext cx="428854" cy="34290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1183" y="2038198"/>
            <a:ext cx="972007" cy="2093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81183" y="2038198"/>
            <a:ext cx="972007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Paiement OK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8375904" y="2391156"/>
            <a:ext cx="304495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Abonnement payé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Statut "Active" 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62849" y="2416759"/>
            <a:ext cx="133502" cy="133502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62849" y="2607869"/>
            <a:ext cx="133502" cy="13350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743846" y="3086100"/>
            <a:ext cx="19202" cy="381305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9743846" y="3276295"/>
            <a:ext cx="228600" cy="22860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9154" y="3543300"/>
            <a:ext cx="1952244" cy="28620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154058" y="3543300"/>
            <a:ext cx="1578254" cy="28620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 de données membre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-1507" r="-1507" t="0" b="0"/>
          <a:stretch/>
        </p:blipFill>
        <p:spPr>
          <a:xfrm>
            <a:off x="8903513" y="3617366"/>
            <a:ext cx="171907" cy="13350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743846" y="3905402"/>
            <a:ext cx="19202" cy="381305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9743846" y="4095598"/>
            <a:ext cx="228600" cy="22860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7925105" y="4362602"/>
            <a:ext cx="3657600" cy="1162202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rcRect l="-133" r="-133" t="0" b="0"/>
          <a:stretch/>
        </p:blipFill>
        <p:spPr>
          <a:xfrm>
            <a:off x="8162849" y="4600346"/>
            <a:ext cx="171907" cy="22860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8410651" y="4600346"/>
            <a:ext cx="587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Wallet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936" y="4610405"/>
            <a:ext cx="1571854" cy="20939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9774936" y="4610405"/>
            <a:ext cx="15718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Données manquantes</a:t>
            </a:r>
            <a:endParaRPr lang="en-US" sz="900" dirty="0"/>
          </a:p>
        </p:txBody>
      </p:sp>
      <p:sp>
        <p:nvSpPr>
          <p:cNvPr id="31" name="Text 19"/>
          <p:cNvSpPr txBox="1"/>
          <p:nvPr/>
        </p:nvSpPr>
        <p:spPr>
          <a:xfrm>
            <a:off x="8375904" y="4905756"/>
            <a:ext cx="304495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Quel niveau ?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Combien de points ? </a:t>
            </a:r>
            <a:endParaRPr lang="en-US" sz="10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162849" y="4931359"/>
            <a:ext cx="133502" cy="133502"/>
          </a:xfrm>
          <a:prstGeom prst="rect">
            <a:avLst/>
          </a:prstGeom>
        </p:spPr>
      </p:pic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162849" y="5122469"/>
            <a:ext cx="133502" cy="133502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609905" y="5676595"/>
            <a:ext cx="10972800" cy="12957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5" name="Shape 21"/>
          <p:cNvSpPr/>
          <p:nvPr/>
        </p:nvSpPr>
        <p:spPr>
          <a:xfrm>
            <a:off x="609905" y="5676595"/>
            <a:ext cx="75895" cy="1295705"/>
          </a:xfrm>
          <a:prstGeom prst="rect">
            <a:avLst/>
          </a:prstGeom>
          <a:solidFill>
            <a:srgbClr val="2D472C"/>
          </a:solidFill>
          <a:ln w="12700">
            <a:solidFill>
              <a:srgbClr val="2D472C">
                <a:alpha val="0"/>
              </a:srgbClr>
            </a:solidFill>
            <a:prstDash val="solid"/>
          </a:ln>
        </p:spPr>
      </p:sp>
      <p:sp>
        <p:nvSpPr>
          <p:cNvPr id="36" name="Shape 22"/>
          <p:cNvSpPr/>
          <p:nvPr/>
        </p:nvSpPr>
        <p:spPr>
          <a:xfrm>
            <a:off x="914400" y="6043270"/>
            <a:ext cx="476402" cy="562356"/>
          </a:xfrm>
          <a:prstGeom prst="roundRect">
            <a:avLst>
              <a:gd name="adj" fmla="val 191939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rcRect l="-133" r="-133" t="0" b="0"/>
          <a:stretch/>
        </p:blipFill>
        <p:spPr>
          <a:xfrm>
            <a:off x="1067105" y="6195974"/>
            <a:ext cx="171907" cy="228600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1619402" y="5905195"/>
            <a:ext cx="9849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constat</a:t>
            </a:r>
            <a:endParaRPr lang="en-US" sz="1500" dirty="0"/>
          </a:p>
        </p:txBody>
      </p:sp>
      <p:sp>
        <p:nvSpPr>
          <p:cNvPr id="39" name="Text 24"/>
          <p:cNvSpPr txBox="1"/>
          <p:nvPr/>
        </p:nvSpPr>
        <p:spPr>
          <a:xfrm>
            <a:off x="1619402" y="6210605"/>
            <a:ext cx="981151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Stripe seul ne suffit pas. Il gère l'argent, mais pas l'identité du membre nécessaire pour faire fonctionner les cartes Apple Wallet et la fidélité.</a:t>
            </a:r>
            <a:endParaRPr lang="en-US" sz="130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333195"/>
            <a:ext cx="10972800" cy="19202"/>
          </a:xfrm>
          <a:prstGeom prst="rect">
            <a:avLst/>
          </a:prstGeom>
          <a:solidFill>
            <a:srgbClr val="E5E7EB">
              <a:alpha val="2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Stripe ne suffit pas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914400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paiement est géré, mais l'identité membre reste à construire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09905" y="1580998"/>
            <a:ext cx="5333695" cy="3696005"/>
          </a:xfrm>
          <a:prstGeom prst="roundRect">
            <a:avLst>
              <a:gd name="adj" fmla="val 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09905" y="1580998"/>
            <a:ext cx="5333695" cy="57607"/>
          </a:xfrm>
          <a:prstGeom prst="roundRect">
            <a:avLst>
              <a:gd name="adj" fmla="val 49092"/>
            </a:avLst>
          </a:prstGeom>
          <a:solidFill>
            <a:srgbClr val="635BFF"/>
          </a:solidFill>
          <a:ln w="12700">
            <a:solidFill>
              <a:srgbClr val="635B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38505" y="2477110"/>
            <a:ext cx="48764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38505" y="1904695"/>
            <a:ext cx="381305" cy="3813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942746" y="1981505"/>
            <a:ext cx="171907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33195" y="1867205"/>
            <a:ext cx="22009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Stripe gère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333195" y="2133295"/>
            <a:ext cx="1933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L'aspect transactionnel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2638044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Paiement récurrent &amp; statut (actif/impayé)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3019349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Factures et reçus automatiques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3400654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moyens de paiement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3781044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Webhooks (événements techniques)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38505" y="4695444"/>
            <a:ext cx="48764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80898" y="4858207"/>
            <a:ext cx="4991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Stripe = "Le client X a payé 9€"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48095" y="1580998"/>
            <a:ext cx="5333695" cy="3696005"/>
          </a:xfrm>
          <a:prstGeom prst="roundRect">
            <a:avLst>
              <a:gd name="adj" fmla="val 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48095" y="1580998"/>
            <a:ext cx="5333695" cy="57607"/>
          </a:xfrm>
          <a:prstGeom prst="roundRect">
            <a:avLst>
              <a:gd name="adj" fmla="val 49092"/>
            </a:avLst>
          </a:prstGeom>
          <a:solidFill>
            <a:srgbClr val="2D472C"/>
          </a:solidFill>
          <a:ln w="12700">
            <a:solidFill>
              <a:srgbClr val="2D472C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>
            <a:alphaModFix amt="5000"/>
          </a:blip>
          <a:srcRect l="-13" r="-13" t="0" b="0"/>
          <a:stretch/>
        </p:blipFill>
        <p:spPr>
          <a:xfrm>
            <a:off x="10591495" y="4438498"/>
            <a:ext cx="1371600" cy="121889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476695" y="2477110"/>
            <a:ext cx="48764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72707" y="2000707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72300" y="1867205"/>
            <a:ext cx="29434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dont PessÓra a besoin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972300" y="2133295"/>
            <a:ext cx="32305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L'expérience Membre (Non couvert par Stripe)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782105" y="2638044"/>
            <a:ext cx="5257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Identité Membre Unifiée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(Profil, préférences, avatar)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782105" y="3019349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Niveaux &amp; Avantages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(Free / Starter / VIP)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6782105" y="3400654"/>
            <a:ext cx="484632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Points de Fidélité (Óra+)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(Cumul &amp; historique)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782105" y="3781044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Lien Apple Wallet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(Carte ↔ Membre)</a:t>
            </a:r>
            <a:endParaRPr lang="en-US" sz="13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8271662" y="3831336"/>
            <a:ext cx="133502" cy="17190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782105" y="4162349"/>
            <a:ext cx="4686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Cohérence Multi-canal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(Site, App, Kiosque)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476695" y="4695444"/>
            <a:ext cx="48764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6420002" y="4858207"/>
            <a:ext cx="4991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7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Besoin d'une BDD pour centraliser tout ça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09905" y="5581498"/>
            <a:ext cx="10972800" cy="10671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09905" y="5581498"/>
            <a:ext cx="75895" cy="1067105"/>
          </a:xfrm>
          <a:prstGeom prst="rect">
            <a:avLst/>
          </a:prstGeom>
          <a:solidFill>
            <a:srgbClr val="2D472C"/>
          </a:solidFill>
          <a:ln w="12700">
            <a:solidFill>
              <a:srgbClr val="2D472C">
                <a:alpha val="0"/>
              </a:srgbClr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38505" y="5886907"/>
            <a:ext cx="400507" cy="457200"/>
          </a:xfrm>
          <a:prstGeom prst="roundRect">
            <a:avLst>
              <a:gd name="adj" fmla="val 228311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952805" y="6005779"/>
            <a:ext cx="171907" cy="19019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429207" y="5734202"/>
            <a:ext cx="10116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Technique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1429207" y="6038698"/>
            <a:ext cx="10077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Il faut une </a:t>
            </a:r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BDD PessÓra centrale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 reçoit les infos de paiement Stripe mais qui reste maître de l'identité membre, des points et du lien avec les cartes Wallet. </a:t>
            </a:r>
            <a:endParaRPr lang="en-US" sz="12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5915254" y="3219602"/>
            <a:ext cx="362102" cy="418795"/>
          </a:xfrm>
          <a:prstGeom prst="roundRect">
            <a:avLst>
              <a:gd name="adj" fmla="val 252526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6010351" y="3319272"/>
            <a:ext cx="171907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333195"/>
            <a:ext cx="10972800" cy="19202"/>
          </a:xfrm>
          <a:prstGeom prst="rect">
            <a:avLst/>
          </a:prstGeom>
          <a:solidFill>
            <a:srgbClr val="2D472C"/>
          </a:solidFill>
          <a:ln w="12700">
            <a:solidFill>
              <a:srgbClr val="2D472C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BDD PESSÓRA : LE MAILLON MANQUANT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914400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L'architecture technique pour relier Stripe et Apple Wallet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57707" y="1657807"/>
            <a:ext cx="51627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de Vérité "Membre"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609905" y="1690726"/>
            <a:ext cx="171907" cy="1901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9905" y="2000707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BDD stocke le profil unique, le niveau (Tier), les points fidélité et les identifiants techniques (IDs Stripe &amp; Wallet).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924458" y="2609698"/>
            <a:ext cx="5095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 Stripe (Paiements)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9905" y="2643530"/>
            <a:ext cx="237744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95451" y="2952598"/>
            <a:ext cx="488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Webhooks :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Réception automatique des événements (paiement réussi, abo annulé).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914400" y="2991002"/>
            <a:ext cx="105156" cy="1143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33856" y="3486607"/>
            <a:ext cx="484814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Mapping :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Association automatique 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stripe_customer_id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↔ 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member_id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914400" y="3524098"/>
            <a:ext cx="142646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29361" y="4134002"/>
            <a:ext cx="51910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 Apple Wallet</a:t>
            </a:r>
            <a:endParaRPr lang="en-US" sz="15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9905" y="4166921"/>
            <a:ext cx="142646" cy="19019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123798" y="4476902"/>
            <a:ext cx="4858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Prestataire :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BDD pilote l'émission et la mise à jour des cartes.</a:t>
            </a:r>
            <a:endParaRPr lang="en-US" sz="12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-1911" r="-1911" t="0" b="0"/>
          <a:stretch/>
        </p:blipFill>
        <p:spPr>
          <a:xfrm>
            <a:off x="914400" y="4515307"/>
            <a:ext cx="133502" cy="1143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095451" y="5009998"/>
            <a:ext cx="5419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Boutique :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Scan → Lookup BDD → Application des avantages.</a:t>
            </a:r>
            <a:endParaRPr lang="en-US" sz="12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914400" y="5048402"/>
            <a:ext cx="105156" cy="114300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6278270" y="1580998"/>
            <a:ext cx="5305349" cy="6372454"/>
          </a:xfrm>
          <a:prstGeom prst="roundRect">
            <a:avLst>
              <a:gd name="adj" fmla="val 37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rcRect l="-360" r="-360" t="0" b="0"/>
          <a:stretch/>
        </p:blipFill>
        <p:spPr>
          <a:xfrm>
            <a:off x="8920886" y="3113532"/>
            <a:ext cx="19202" cy="381305"/>
          </a:xfrm>
          <a:prstGeom prst="rect">
            <a:avLst/>
          </a:prstGeom>
        </p:spPr>
      </p:pic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36101" y="3367735"/>
            <a:ext cx="676656" cy="152705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036101" y="3367735"/>
            <a:ext cx="676656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Webhooks</a:t>
            </a:r>
            <a:endParaRPr lang="en-US" sz="9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893454" y="3621024"/>
            <a:ext cx="152705" cy="152705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rcRect l="-360" r="-360" t="0" b="0"/>
          <a:stretch/>
        </p:blipFill>
        <p:spPr>
          <a:xfrm>
            <a:off x="8920886" y="6033211"/>
            <a:ext cx="19202" cy="381305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6101" y="6007608"/>
            <a:ext cx="590702" cy="152705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9036101" y="6007608"/>
            <a:ext cx="590702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 Sync</a:t>
            </a:r>
            <a:endParaRPr lang="en-US" sz="900" dirty="0"/>
          </a:p>
        </p:txBody>
      </p:sp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893454" y="6324905"/>
            <a:ext cx="152705" cy="152705"/>
          </a:xfrm>
          <a:prstGeom prst="rect">
            <a:avLst/>
          </a:prstGeom>
        </p:spPr>
      </p:pic>
      <p:sp>
        <p:nvSpPr>
          <p:cNvPr id="32" name="Shape 15"/>
          <p:cNvSpPr/>
          <p:nvPr/>
        </p:nvSpPr>
        <p:spPr>
          <a:xfrm>
            <a:off x="609905" y="8022946"/>
            <a:ext cx="10972800" cy="1028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33" name="Shape 16"/>
          <p:cNvSpPr/>
          <p:nvPr/>
        </p:nvSpPr>
        <p:spPr>
          <a:xfrm>
            <a:off x="609905" y="8022946"/>
            <a:ext cx="75895" cy="1028700"/>
          </a:xfrm>
          <a:prstGeom prst="rect">
            <a:avLst/>
          </a:prstGeom>
          <a:solidFill>
            <a:srgbClr val="2D472C"/>
          </a:solidFill>
          <a:ln w="12700">
            <a:solidFill>
              <a:srgbClr val="2D472C">
                <a:alpha val="0"/>
              </a:srgbClr>
            </a:solidFill>
            <a:prstDash val="solid"/>
          </a:ln>
        </p:spPr>
      </p:sp>
      <p:sp>
        <p:nvSpPr>
          <p:cNvPr id="34" name="Shape 17"/>
          <p:cNvSpPr/>
          <p:nvPr/>
        </p:nvSpPr>
        <p:spPr>
          <a:xfrm>
            <a:off x="838505" y="8308238"/>
            <a:ext cx="448056" cy="457200"/>
          </a:xfrm>
          <a:prstGeom prst="roundRect">
            <a:avLst>
              <a:gd name="adj" fmla="val 204082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16"/>
          <a:srcRect l="-1282" r="-1282" t="0" b="0"/>
          <a:stretch/>
        </p:blipFill>
        <p:spPr>
          <a:xfrm>
            <a:off x="952805" y="8428025"/>
            <a:ext cx="219456" cy="190195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1438351" y="8175650"/>
            <a:ext cx="101068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Indispensable</a:t>
            </a:r>
            <a:endParaRPr lang="en-US" sz="1300" dirty="0"/>
          </a:p>
        </p:txBody>
      </p:sp>
      <p:sp>
        <p:nvSpPr>
          <p:cNvPr id="37" name="Text 19"/>
          <p:cNvSpPr txBox="1"/>
          <p:nvPr/>
        </p:nvSpPr>
        <p:spPr>
          <a:xfrm>
            <a:off x="1438351" y="8441741"/>
            <a:ext cx="1006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Sans cette base de données centrale, il est techniquement impossible de connecter dynamiquement les cartes Apple Wallet au statut d'abonnement réel.</a:t>
            </a:r>
            <a:endParaRPr lang="en-US" sz="1200" dirty="0"/>
          </a:p>
        </p:txBody>
      </p:sp>
      <p:pic>
        <p:nvPicPr>
          <p:cNvPr id="38" name="Image 16" descr="preencoded.png">    </p:cNvPr>
          <p:cNvPicPr>
            <a:picLocks noChangeAspect="1"/>
          </p:cNvPicPr>
          <p:nvPr/>
        </p:nvPicPr>
        <p:blipFill>
          <a:blip r:embed="rId17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39" name="Shape 20"/>
          <p:cNvSpPr/>
          <p:nvPr/>
        </p:nvSpPr>
        <p:spPr>
          <a:xfrm>
            <a:off x="8015630" y="1819656"/>
            <a:ext cx="1828800" cy="1343254"/>
          </a:xfrm>
          <a:prstGeom prst="roundRect">
            <a:avLst>
              <a:gd name="adj" fmla="val 38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0" name="Text 21"/>
          <p:cNvSpPr txBox="1"/>
          <p:nvPr/>
        </p:nvSpPr>
        <p:spPr>
          <a:xfrm>
            <a:off x="8139989" y="240030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472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Stripe</a:t>
            </a:r>
            <a:endParaRPr lang="en-US" sz="1200" dirty="0"/>
          </a:p>
        </p:txBody>
      </p:sp>
      <p:sp>
        <p:nvSpPr>
          <p:cNvPr id="41" name="Text 22"/>
          <p:cNvSpPr txBox="1"/>
          <p:nvPr/>
        </p:nvSpPr>
        <p:spPr>
          <a:xfrm>
            <a:off x="8147304" y="2704795"/>
            <a:ext cx="156545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Gère les paiements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&amp; abonnements</a:t>
            </a:r>
            <a:endParaRPr lang="en-US" sz="900" dirty="0"/>
          </a:p>
        </p:txBody>
      </p:sp>
      <p:pic>
        <p:nvPicPr>
          <p:cNvPr id="42" name="Image 17" descr="preencoded.png">    </p:cNvPr>
          <p:cNvPicPr>
            <a:picLocks noChangeAspect="1"/>
          </p:cNvPicPr>
          <p:nvPr/>
        </p:nvPicPr>
        <p:blipFill>
          <a:blip r:embed="rId18"/>
          <a:srcRect l="-607" r="-607" t="0" b="0"/>
          <a:stretch/>
        </p:blipFill>
        <p:spPr>
          <a:xfrm>
            <a:off x="8748979" y="2017166"/>
            <a:ext cx="362102" cy="286207"/>
          </a:xfrm>
          <a:prstGeom prst="rect">
            <a:avLst/>
          </a:prstGeom>
        </p:spPr>
      </p:pic>
      <p:sp>
        <p:nvSpPr>
          <p:cNvPr id="43" name="Shape 23"/>
          <p:cNvSpPr/>
          <p:nvPr/>
        </p:nvSpPr>
        <p:spPr>
          <a:xfrm>
            <a:off x="7711135" y="3616452"/>
            <a:ext cx="2438705" cy="2295144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4" name="Text 24"/>
          <p:cNvSpPr txBox="1"/>
          <p:nvPr/>
        </p:nvSpPr>
        <p:spPr>
          <a:xfrm>
            <a:off x="7720279" y="4198925"/>
            <a:ext cx="242773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BDD PESSÓRA</a:t>
            </a:r>
            <a:endParaRPr lang="en-US" sz="1300" dirty="0"/>
          </a:p>
        </p:txBody>
      </p:sp>
      <p:sp>
        <p:nvSpPr>
          <p:cNvPr id="45" name="Text 25"/>
          <p:cNvSpPr txBox="1"/>
          <p:nvPr/>
        </p:nvSpPr>
        <p:spPr>
          <a:xfrm>
            <a:off x="7720279" y="4575658"/>
            <a:ext cx="24277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 de Vérité Membre</a:t>
            </a:r>
            <a:endParaRPr lang="en-US" sz="900" dirty="0"/>
          </a:p>
        </p:txBody>
      </p:sp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66914" y="4820717"/>
            <a:ext cx="2333549" cy="1028700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7766914" y="4820717"/>
            <a:ext cx="2334463" cy="1028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id: "usr_123" stripe_id: "cus_XyZ" wallet_id: "pass_ABC" tier: "PREMIUM" points: 450</a:t>
            </a:r>
            <a:endParaRPr lang="en-US" sz="900" dirty="0"/>
          </a:p>
        </p:txBody>
      </p:sp>
      <p:pic>
        <p:nvPicPr>
          <p:cNvPr id="48" name="Image 19" descr="preencoded.png">    </p:cNvPr>
          <p:cNvPicPr>
            <a:picLocks noChangeAspect="1"/>
          </p:cNvPicPr>
          <p:nvPr/>
        </p:nvPicPr>
        <p:blipFill>
          <a:blip r:embed="rId20"/>
          <a:srcRect l="-655" r="-655" t="0" b="0"/>
          <a:stretch/>
        </p:blipFill>
        <p:spPr>
          <a:xfrm>
            <a:off x="8747150" y="3680460"/>
            <a:ext cx="371246" cy="418795"/>
          </a:xfrm>
          <a:prstGeom prst="rect">
            <a:avLst/>
          </a:prstGeom>
        </p:spPr>
      </p:pic>
      <p:sp>
        <p:nvSpPr>
          <p:cNvPr id="49" name="Shape 27"/>
          <p:cNvSpPr/>
          <p:nvPr/>
        </p:nvSpPr>
        <p:spPr>
          <a:xfrm>
            <a:off x="8015630" y="6367882"/>
            <a:ext cx="1828800" cy="1343254"/>
          </a:xfrm>
          <a:prstGeom prst="roundRect">
            <a:avLst>
              <a:gd name="adj" fmla="val 38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50" name="Text 28"/>
          <p:cNvSpPr txBox="1"/>
          <p:nvPr/>
        </p:nvSpPr>
        <p:spPr>
          <a:xfrm>
            <a:off x="8139989" y="694944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472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Prestataire</a:t>
            </a:r>
            <a:endParaRPr lang="en-US" sz="1200" dirty="0"/>
          </a:p>
        </p:txBody>
      </p:sp>
      <p:sp>
        <p:nvSpPr>
          <p:cNvPr id="51" name="Text 29"/>
          <p:cNvSpPr txBox="1"/>
          <p:nvPr/>
        </p:nvSpPr>
        <p:spPr>
          <a:xfrm>
            <a:off x="8147304" y="7253935"/>
            <a:ext cx="156545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Génère &amp; affiche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les cartes</a:t>
            </a:r>
            <a:endParaRPr lang="en-US" sz="900" dirty="0"/>
          </a:p>
        </p:txBody>
      </p:sp>
      <p:pic>
        <p:nvPicPr>
          <p:cNvPr id="52" name="Image 20" descr="preencoded.png">    </p:cNvPr>
          <p:cNvPicPr>
            <a:picLocks noChangeAspect="1"/>
          </p:cNvPicPr>
          <p:nvPr/>
        </p:nvPicPr>
        <p:blipFill>
          <a:blip r:embed="rId21"/>
          <a:srcRect l="-1118" r="-1118" t="0" b="0"/>
          <a:stretch/>
        </p:blipFill>
        <p:spPr>
          <a:xfrm>
            <a:off x="8640166" y="6566306"/>
            <a:ext cx="219456" cy="286207"/>
          </a:xfrm>
          <a:prstGeom prst="rect">
            <a:avLst/>
          </a:prstGeom>
        </p:spPr>
      </p:pic>
      <p:sp>
        <p:nvSpPr>
          <p:cNvPr id="53" name="Text 30"/>
          <p:cNvSpPr txBox="1"/>
          <p:nvPr/>
        </p:nvSpPr>
        <p:spPr>
          <a:xfrm>
            <a:off x="8820302" y="6682435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Wallet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143000"/>
            <a:ext cx="10972800" cy="19202"/>
          </a:xfrm>
          <a:prstGeom prst="rect">
            <a:avLst/>
          </a:prstGeom>
          <a:solidFill>
            <a:srgbClr val="E5E7EB">
              <a:alpha val="2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381305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source de vérité unique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800100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Centralisation et cohérence cross-canal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90295" y="1390802"/>
            <a:ext cx="65535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Menu unifié :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 menu affiché sur le site provient directement de l'admin (table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products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 Fini les discordances.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90295" y="2157070"/>
            <a:ext cx="65535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Événements synchronisés :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page « Événements » lit la table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events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Une mise à jour admin se reflète instantanément.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90295" y="2924251"/>
            <a:ext cx="65535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Infos pratiques centralisées :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Horaires, adresse et contacts sont stockés en base, évitant l'éparpillement.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90295" y="3672230"/>
            <a:ext cx="65535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Cohérence multi-plateforme :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même base alimentera le futur bot, l'application mobile et les bornes en boutique.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0" r="0" t="0" b="0"/>
          <a:stretch/>
        </p:blipFill>
        <p:spPr>
          <a:xfrm rot="18900000">
            <a:off x="8473745" y="2937053"/>
            <a:ext cx="875995" cy="87599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l="0" r="0" t="0" b="0"/>
          <a:stretch/>
        </p:blipFill>
        <p:spPr>
          <a:xfrm rot="2700000">
            <a:off x="9814255" y="2937053"/>
            <a:ext cx="875995" cy="875995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 l="-400" r="-400" t="0" b="0"/>
          <a:stretch/>
        </p:blipFill>
        <p:spPr>
          <a:xfrm rot="5400000">
            <a:off x="9296705" y="3710635"/>
            <a:ext cx="19202" cy="91440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76895" y="1695298"/>
            <a:ext cx="666598" cy="666598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rcRect l="-685" r="-685" t="0" b="0"/>
          <a:stretch/>
        </p:blipFill>
        <p:spPr>
          <a:xfrm>
            <a:off x="8257946" y="1895551"/>
            <a:ext cx="304495" cy="2670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153705" y="2400300"/>
            <a:ext cx="590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Site Web</a:t>
            </a:r>
            <a:endParaRPr lang="en-US" sz="9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763402" y="1695298"/>
            <a:ext cx="666598" cy="66659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996574" y="1895551"/>
            <a:ext cx="200254" cy="267005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10778033" y="2400300"/>
            <a:ext cx="734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 Mobile</a:t>
            </a:r>
            <a:endParaRPr lang="en-US" sz="9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420149" y="4401007"/>
            <a:ext cx="666598" cy="666598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586570" y="4600346"/>
            <a:ext cx="333756" cy="267005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9489643" y="5105095"/>
            <a:ext cx="609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PessoBot</a:t>
            </a:r>
            <a:endParaRPr lang="en-US" sz="900" dirty="0"/>
          </a:p>
        </p:txBody>
      </p:sp>
      <p:sp>
        <p:nvSpPr>
          <p:cNvPr id="24" name="Shape 11"/>
          <p:cNvSpPr/>
          <p:nvPr/>
        </p:nvSpPr>
        <p:spPr>
          <a:xfrm>
            <a:off x="609905" y="5410505"/>
            <a:ext cx="10972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5" name="Shape 12"/>
          <p:cNvSpPr/>
          <p:nvPr/>
        </p:nvSpPr>
        <p:spPr>
          <a:xfrm>
            <a:off x="609905" y="5410505"/>
            <a:ext cx="75895" cy="1143000"/>
          </a:xfrm>
          <a:prstGeom prst="rect">
            <a:avLst/>
          </a:prstGeom>
          <a:solidFill>
            <a:srgbClr val="2D472C"/>
          </a:solidFill>
          <a:ln w="12700">
            <a:solidFill>
              <a:srgbClr val="2D472C">
                <a:alpha val="0"/>
              </a:srgbClr>
            </a:solidFill>
            <a:prstDash val="solid"/>
          </a:ln>
        </p:spPr>
      </p:sp>
      <p:sp>
        <p:nvSpPr>
          <p:cNvPr id="26" name="Shape 13"/>
          <p:cNvSpPr/>
          <p:nvPr/>
        </p:nvSpPr>
        <p:spPr>
          <a:xfrm>
            <a:off x="875995" y="5753405"/>
            <a:ext cx="418795" cy="457200"/>
          </a:xfrm>
          <a:prstGeom prst="roundRect">
            <a:avLst>
              <a:gd name="adj" fmla="val 218341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90295" y="5872277"/>
            <a:ext cx="190195" cy="190195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1485900" y="5600700"/>
            <a:ext cx="10020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Avantage Stratégique</a:t>
            </a:r>
            <a:endParaRPr lang="en-US" sz="1300" dirty="0"/>
          </a:p>
        </p:txBody>
      </p:sp>
      <p:sp>
        <p:nvSpPr>
          <p:cNvPr id="29" name="Text 15"/>
          <p:cNvSpPr txBox="1"/>
          <p:nvPr/>
        </p:nvSpPr>
        <p:spPr>
          <a:xfrm>
            <a:off x="1485900" y="5905195"/>
            <a:ext cx="9982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base de données élimine les risques de doublons et de désynchronisation. Elle garantit que l'information est fiable et identique partout, en temps réel.</a:t>
            </a:r>
            <a:endParaRPr lang="en-US" sz="120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" b="-10"/>
          <a:stretch/>
        </p:blipFill>
        <p:spPr>
          <a:xfrm>
            <a:off x="9181490" y="2628900"/>
            <a:ext cx="1144829" cy="1390802"/>
          </a:xfrm>
          <a:prstGeom prst="rect">
            <a:avLst/>
          </a:prstGeom>
        </p:spPr>
      </p:pic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54" b="-54"/>
          <a:stretch/>
        </p:blipFill>
        <p:spPr>
          <a:xfrm>
            <a:off x="9486900" y="2790749"/>
            <a:ext cx="533095" cy="609905"/>
          </a:xfrm>
          <a:prstGeom prst="rect">
            <a:avLst/>
          </a:prstGeom>
        </p:spPr>
      </p:pic>
      <p:sp>
        <p:nvSpPr>
          <p:cNvPr id="33" name="Text 16"/>
          <p:cNvSpPr txBox="1"/>
          <p:nvPr/>
        </p:nvSpPr>
        <p:spPr>
          <a:xfrm>
            <a:off x="9366199" y="3476549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Supabase</a:t>
            </a:r>
            <a:endParaRPr lang="en-US" sz="1200" dirty="0"/>
          </a:p>
        </p:txBody>
      </p:sp>
      <p:sp>
        <p:nvSpPr>
          <p:cNvPr id="34" name="Text 17"/>
          <p:cNvSpPr txBox="1"/>
          <p:nvPr/>
        </p:nvSpPr>
        <p:spPr>
          <a:xfrm>
            <a:off x="9343339" y="3705149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 de vérité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257300"/>
            <a:ext cx="10972800" cy="19202"/>
          </a:xfrm>
          <a:prstGeom prst="rect">
            <a:avLst/>
          </a:prstGeom>
          <a:solidFill>
            <a:srgbClr val="E5E7EB">
              <a:alpha val="2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381305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la BDD permet pour la suite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83850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Nouvelles opportunités &amp; Évolutions métier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09905" y="1429207"/>
            <a:ext cx="5372100" cy="1733702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2D472C">
                <a:alpha val="5000"/>
              </a:srgbClr>
            </a:solidFill>
            <a:prstDash val="solid"/>
          </a:ln>
          <a:effectLst>
            <a:outerShdw sx="100000" sy="100000" kx="0" ky="0" algn="bl" rotWithShape="0" blurRad="139700" dist="38100" dir="16200000">
              <a:srgbClr val="2d472c">
                <a:alpha val="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9244" y="162854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D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961949" y="1772107"/>
            <a:ext cx="171907" cy="190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38351" y="1733702"/>
            <a:ext cx="29471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Réservations &amp; Commandes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09244" y="2219249"/>
            <a:ext cx="50484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Capacité de stocker et gérer les créneaux horaires, suivre les statuts de commande (reçu, en préparation, prêt) et conserver l'historique des transactions.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10605" y="1429207"/>
            <a:ext cx="5372100" cy="1733702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2D472C">
                <a:alpha val="5000"/>
              </a:srgbClr>
            </a:solidFill>
            <a:prstDash val="solid"/>
          </a:ln>
          <a:effectLst>
            <a:outerShdw sx="100000" sy="100000" kx="0" ky="0" algn="bl" rotWithShape="0" blurRad="139700" dist="38100" dir="16200000">
              <a:srgbClr val="2d472c">
                <a:alpha val="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409944" y="162854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D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6538874" y="1772107"/>
            <a:ext cx="219456" cy="1901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39051" y="1733702"/>
            <a:ext cx="23463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&amp; Insights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409944" y="2219249"/>
            <a:ext cx="50484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Analyse précise des produits les plus vus et achetés, identification des pics de fréquentation. Des données dérivées des tables pour piloter l'activité.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09905" y="3390595"/>
            <a:ext cx="5372100" cy="1733702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2D472C">
                <a:alpha val="5000"/>
              </a:srgbClr>
            </a:solidFill>
            <a:prstDash val="solid"/>
          </a:ln>
          <a:effectLst>
            <a:outerShdw sx="100000" sy="100000" kx="0" ky="0" algn="bl" rotWithShape="0" blurRad="139700" dist="38100" dir="16200000">
              <a:srgbClr val="2d472c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09244" y="3590849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D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9030" y="3733495"/>
            <a:ext cx="237744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38351" y="3696005"/>
            <a:ext cx="305958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PessoBot Personnalisée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09244" y="4181551"/>
            <a:ext cx="50484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assistant intelligent capable de recommander des produits basés sur l'historique et les préférences du membre, grâce au compte utilisateur unifié.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210605" y="3390595"/>
            <a:ext cx="5372100" cy="1733702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2D472C">
                <a:alpha val="5000"/>
              </a:srgbClr>
            </a:solidFill>
            <a:prstDash val="solid"/>
          </a:ln>
          <a:effectLst>
            <a:outerShdw sx="100000" sy="100000" kx="0" ky="0" algn="bl" rotWithShape="0" blurRad="139700" dist="38100" dir="16200000">
              <a:srgbClr val="2d472c">
                <a:alpha val="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09944" y="3590849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D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-1282" r="-1282" t="0" b="0"/>
          <a:stretch/>
        </p:blipFill>
        <p:spPr>
          <a:xfrm>
            <a:off x="6538874" y="3733495"/>
            <a:ext cx="219456" cy="1901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39051" y="3696005"/>
            <a:ext cx="269107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Expérience Multi-canal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6409944" y="4181551"/>
            <a:ext cx="504840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architecture centralisée servant de socle commun pour le site web, la future application mobile et potentiellement une borne kiosque en boutique.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9905" y="5277002"/>
            <a:ext cx="10972800" cy="114300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875995" y="5619902"/>
            <a:ext cx="418795" cy="457200"/>
          </a:xfrm>
          <a:prstGeom prst="roundRect">
            <a:avLst>
              <a:gd name="adj" fmla="val 218341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90295" y="5738774"/>
            <a:ext cx="190195" cy="19019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485900" y="5467198"/>
            <a:ext cx="10020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 Stratégique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1485900" y="5772607"/>
            <a:ext cx="9982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base de données n'est pas qu'un outil de stockage : c'est le </a:t>
            </a:r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socle technique indispensable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pour activer toutes les futures fonctionnalités métier. 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257300"/>
            <a:ext cx="10972800" cy="19202"/>
          </a:xfrm>
          <a:prstGeom prst="rect">
            <a:avLst/>
          </a:prstGeom>
          <a:solidFill>
            <a:srgbClr val="E5E7EB">
              <a:alpha val="2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Données personnelles et sécurité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87599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Protection, RGPD et Conformité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09905" y="1552651"/>
            <a:ext cx="6400800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2d472c">
                <a:alpha val="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09905" y="1552651"/>
            <a:ext cx="38405" cy="875995"/>
          </a:xfrm>
          <a:prstGeom prst="roundRect">
            <a:avLst>
              <a:gd name="adj" fmla="val 207038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1790395"/>
            <a:ext cx="400507" cy="400507"/>
          </a:xfrm>
          <a:prstGeom prst="ellipse">
            <a:avLst/>
          </a:prstGeom>
          <a:solidFill>
            <a:srgbClr val="ED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310" b="-1310"/>
          <a:stretch/>
        </p:blipFill>
        <p:spPr>
          <a:xfrm>
            <a:off x="857707" y="1904695"/>
            <a:ext cx="209398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14907" y="1666951"/>
            <a:ext cx="56967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Conformité RGPD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314907" y="1933956"/>
            <a:ext cx="5658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stricte des données personnelles (emails, identités, historiques) dans un cadre légal.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09905" y="2542946"/>
            <a:ext cx="6400800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2d472c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09905" y="2542946"/>
            <a:ext cx="38405" cy="875995"/>
          </a:xfrm>
          <a:prstGeom prst="roundRect">
            <a:avLst>
              <a:gd name="adj" fmla="val 207038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1695" y="2781605"/>
            <a:ext cx="400507" cy="400507"/>
          </a:xfrm>
          <a:prstGeom prst="ellipse">
            <a:avLst/>
          </a:prstGeom>
          <a:solidFill>
            <a:srgbClr val="ED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5995" y="2895905"/>
            <a:ext cx="171907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14907" y="2657246"/>
            <a:ext cx="56967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Contrôle d'Accès (RLS)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314907" y="2924251"/>
            <a:ext cx="5658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Row Level Security (Supabase) garantit mathématiquement que chaque utilisateur ne voit que ses propres données.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9905" y="3534156"/>
            <a:ext cx="6400800" cy="87599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2d472c">
                <a:alpha val="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09905" y="3534156"/>
            <a:ext cx="38405" cy="875995"/>
          </a:xfrm>
          <a:prstGeom prst="roundRect">
            <a:avLst>
              <a:gd name="adj" fmla="val 207038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1695" y="3771900"/>
            <a:ext cx="400507" cy="400507"/>
          </a:xfrm>
          <a:prstGeom prst="ellipse">
            <a:avLst/>
          </a:prstGeom>
          <a:solidFill>
            <a:srgbClr val="ED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5995" y="3886200"/>
            <a:ext cx="171907" cy="17190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14907" y="3648456"/>
            <a:ext cx="56967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Sécurité du Code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314907" y="3914546"/>
            <a:ext cx="5658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Aucun secret API sensible n'est exposé dans le code client. La logique critique reste côté serveur.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09905" y="4524451"/>
            <a:ext cx="6400800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2d472c">
                <a:alpha val="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09905" y="4524451"/>
            <a:ext cx="38405" cy="685800"/>
          </a:xfrm>
          <a:prstGeom prst="roundRect">
            <a:avLst>
              <a:gd name="adj" fmla="val 264549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61695" y="4667098"/>
            <a:ext cx="400507" cy="400507"/>
          </a:xfrm>
          <a:prstGeom prst="ellipse">
            <a:avLst/>
          </a:prstGeom>
          <a:solidFill>
            <a:srgbClr val="EDF2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222" b="-2222"/>
          <a:stretch/>
        </p:blipFill>
        <p:spPr>
          <a:xfrm>
            <a:off x="899770" y="4781398"/>
            <a:ext cx="123444" cy="17190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314907" y="4638751"/>
            <a:ext cx="54964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&amp; Standards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314907" y="4905756"/>
            <a:ext cx="6067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validée selon les règles d'audit (réf. Karibloom) pour une traçabilité totale.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7315200" y="1505102"/>
            <a:ext cx="4267505" cy="3752698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2D472C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777326" y="1772107"/>
            <a:ext cx="1343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5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 Sécurisé</a:t>
            </a:r>
            <a:endParaRPr lang="en-US" sz="10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9363456" y="2795321"/>
            <a:ext cx="171907" cy="190195"/>
          </a:xfrm>
          <a:prstGeom prst="rect">
            <a:avLst/>
          </a:prstGeom>
        </p:spPr>
      </p:pic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353398" y="3786530"/>
            <a:ext cx="190195" cy="19019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814816" y="4839005"/>
            <a:ext cx="17282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Données isolées &amp; protégées 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624621" y="4858207"/>
            <a:ext cx="114300" cy="114300"/>
          </a:xfrm>
          <a:prstGeom prst="rect">
            <a:avLst/>
          </a:prstGeom>
        </p:spPr>
      </p:pic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4" b="-14"/>
          <a:stretch/>
        </p:blipFill>
        <p:spPr>
          <a:xfrm>
            <a:off x="609905" y="5410505"/>
            <a:ext cx="10972800" cy="1067105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838505" y="5715000"/>
            <a:ext cx="448056" cy="457200"/>
          </a:xfrm>
          <a:prstGeom prst="roundRect">
            <a:avLst>
              <a:gd name="adj" fmla="val 204082"/>
            </a:avLst>
          </a:prstGeom>
          <a:solidFill>
            <a:srgbClr val="2D47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-1282" r="-1282" t="0" b="0"/>
          <a:stretch/>
        </p:blipFill>
        <p:spPr>
          <a:xfrm>
            <a:off x="952805" y="5833872"/>
            <a:ext cx="219456" cy="190195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1476756" y="5562295"/>
            <a:ext cx="100684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Confiance &amp; Sérénité</a:t>
            </a:r>
            <a:endParaRPr lang="en-US" sz="1300" dirty="0"/>
          </a:p>
        </p:txBody>
      </p:sp>
      <p:sp>
        <p:nvSpPr>
          <p:cNvPr id="42" name="Text 29"/>
          <p:cNvSpPr txBox="1"/>
          <p:nvPr/>
        </p:nvSpPr>
        <p:spPr>
          <a:xfrm>
            <a:off x="1476756" y="5867705"/>
            <a:ext cx="10030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Une base de données bien conçue est le socle indispensable pour garantir la </a:t>
            </a:r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confidentialité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 membres et la </a:t>
            </a:r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conformité</a:t>
            </a:r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légale du projet. </a:t>
            </a:r>
            <a:endParaRPr lang="en-US" sz="12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7925105" y="2076602"/>
            <a:ext cx="3047695" cy="629107"/>
          </a:xfrm>
          <a:prstGeom prst="roundRect">
            <a:avLst>
              <a:gd name="adj" fmla="val 17618"/>
            </a:avLst>
          </a:prstGeom>
          <a:solidFill>
            <a:srgbClr val="F9F9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5" name="Text 31"/>
          <p:cNvSpPr txBox="1"/>
          <p:nvPr/>
        </p:nvSpPr>
        <p:spPr>
          <a:xfrm>
            <a:off x="9018727" y="2180844"/>
            <a:ext cx="1963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Client / Site Web </a:t>
            </a:r>
            <a:endParaRPr lang="en-US" sz="120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80" b="-180"/>
          <a:stretch/>
        </p:blipFill>
        <p:spPr>
          <a:xfrm>
            <a:off x="8752637" y="2219249"/>
            <a:ext cx="190195" cy="152705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7972654" y="2447849"/>
            <a:ext cx="29525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Authentification (JWT)</a:t>
            </a:r>
            <a:endParaRPr lang="en-US" sz="900" dirty="0"/>
          </a:p>
        </p:txBody>
      </p:sp>
      <p:sp>
        <p:nvSpPr>
          <p:cNvPr id="48" name="Shape 33"/>
          <p:cNvSpPr/>
          <p:nvPr/>
        </p:nvSpPr>
        <p:spPr>
          <a:xfrm>
            <a:off x="7925105" y="3066898"/>
            <a:ext cx="3047695" cy="629107"/>
          </a:xfrm>
          <a:prstGeom prst="roundRect">
            <a:avLst>
              <a:gd name="adj" fmla="val 17618"/>
            </a:avLst>
          </a:prstGeom>
          <a:solidFill>
            <a:srgbClr val="F9F9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9" name="Text 34"/>
          <p:cNvSpPr txBox="1"/>
          <p:nvPr/>
        </p:nvSpPr>
        <p:spPr>
          <a:xfrm>
            <a:off x="8990381" y="3172054"/>
            <a:ext cx="199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472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Supabase Auth </a:t>
            </a:r>
            <a:endParaRPr lang="en-US" sz="1200" dirty="0"/>
          </a:p>
        </p:txBody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761781" y="3209544"/>
            <a:ext cx="152705" cy="152705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7972654" y="3438144"/>
            <a:ext cx="29525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Vérification d'identité</a:t>
            </a:r>
            <a:endParaRPr lang="en-US" sz="900" dirty="0"/>
          </a:p>
        </p:txBody>
      </p:sp>
      <p:sp>
        <p:nvSpPr>
          <p:cNvPr id="52" name="Shape 36"/>
          <p:cNvSpPr/>
          <p:nvPr/>
        </p:nvSpPr>
        <p:spPr>
          <a:xfrm>
            <a:off x="7925105" y="4058107"/>
            <a:ext cx="3047695" cy="629107"/>
          </a:xfrm>
          <a:prstGeom prst="roundRect">
            <a:avLst>
              <a:gd name="adj" fmla="val 17618"/>
            </a:avLst>
          </a:prstGeom>
          <a:solidFill>
            <a:srgbClr val="F9F9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53" name="Text 37"/>
          <p:cNvSpPr txBox="1"/>
          <p:nvPr/>
        </p:nvSpPr>
        <p:spPr>
          <a:xfrm>
            <a:off x="8900770" y="4162349"/>
            <a:ext cx="20811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Base de Données </a:t>
            </a:r>
            <a:endParaRPr lang="en-US" sz="120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8691372" y="4200754"/>
            <a:ext cx="133502" cy="152705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7972654" y="4429354"/>
            <a:ext cx="29525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Policies RLS : "Select if uid = user_id"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11315700" y="304495"/>
            <a:ext cx="571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218895"/>
            <a:ext cx="10972800" cy="19202"/>
          </a:xfrm>
          <a:prstGeom prst="rect">
            <a:avLst/>
          </a:prstGeom>
          <a:solidFill>
            <a:srgbClr val="E5E7EB">
              <a:alpha val="2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68" kern="0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résumé</a:t>
            </a:r>
            <a:endParaRPr lang="en-US" sz="27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875995"/>
            <a:ext cx="11087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passer à une base de données ?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609905" y="1466698"/>
            <a:ext cx="3530498" cy="4067251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47649" y="2048256"/>
            <a:ext cx="3057754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095451" y="1705356"/>
            <a:ext cx="2924251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7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Points Clés 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7649" y="1745590"/>
            <a:ext cx="171907" cy="171907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7649" y="2247595"/>
            <a:ext cx="152705" cy="15270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95451" y="2210105"/>
            <a:ext cx="2886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Autonomie Totale 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L'équipe gère le menu et les événements sans développeur.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7649" y="3047695"/>
            <a:ext cx="152705" cy="15270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095451" y="3010205"/>
            <a:ext cx="2886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Club Membre 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Gestion de vrais comptes, abonnements et historique.</a:t>
            </a:r>
            <a:endParaRPr lang="en-US" sz="12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47649" y="3619195"/>
            <a:ext cx="152705" cy="1527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095451" y="3581705"/>
            <a:ext cx="2886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Fidélité Óra+ 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Programme de points et avantages personnalisés.</a:t>
            </a:r>
            <a:endParaRPr lang="en-US" sz="12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47649" y="4190695"/>
            <a:ext cx="152705" cy="15270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095451" y="4153205"/>
            <a:ext cx="2886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Scalabilité 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Prêt pour les commandes et le multi-canal.</a:t>
            </a:r>
            <a:endParaRPr lang="en-US" sz="12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7649" y="4762195"/>
            <a:ext cx="152705" cy="15270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095451" y="4724705"/>
            <a:ext cx="2886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Sécurité 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Données RGPD protégées et isolées.</a:t>
            </a:r>
            <a:endParaRPr lang="en-US" sz="12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0794" y="1466698"/>
            <a:ext cx="1772107" cy="390449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520794" y="1466698"/>
            <a:ext cx="1772107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Enjeu</a:t>
            </a:r>
            <a:endParaRPr lang="en-US" sz="10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466698"/>
            <a:ext cx="2476195" cy="390449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6286500" y="1466698"/>
            <a:ext cx="2477110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Sans BDD (Actuel)</a:t>
            </a:r>
            <a:endParaRPr lang="en-US" sz="10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58123" y="1466698"/>
            <a:ext cx="2829154" cy="390449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8758123" y="1466698"/>
            <a:ext cx="2829154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Avec BDD (Cible)</a:t>
            </a:r>
            <a:endParaRPr lang="en-US" sz="1000" dirty="0"/>
          </a:p>
        </p:txBody>
      </p:sp>
      <p:sp>
        <p:nvSpPr>
          <p:cNvPr id="28" name="Shape 14"/>
          <p:cNvSpPr/>
          <p:nvPr/>
        </p:nvSpPr>
        <p:spPr>
          <a:xfrm>
            <a:off x="4520794" y="2243023"/>
            <a:ext cx="1772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9" name="Text 15"/>
          <p:cNvSpPr txBox="1"/>
          <p:nvPr/>
        </p:nvSpPr>
        <p:spPr>
          <a:xfrm>
            <a:off x="4520794" y="1851660"/>
            <a:ext cx="1843430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Mise à jour Menu</a:t>
            </a:r>
            <a:endParaRPr lang="en-US" sz="1000" dirty="0"/>
          </a:p>
        </p:txBody>
      </p:sp>
      <p:sp>
        <p:nvSpPr>
          <p:cNvPr id="30" name="Shape 16"/>
          <p:cNvSpPr/>
          <p:nvPr/>
        </p:nvSpPr>
        <p:spPr>
          <a:xfrm>
            <a:off x="6286500" y="2243023"/>
            <a:ext cx="2476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1" name="Text 17"/>
          <p:cNvSpPr txBox="1"/>
          <p:nvPr/>
        </p:nvSpPr>
        <p:spPr>
          <a:xfrm>
            <a:off x="6667805" y="1851660"/>
            <a:ext cx="2171700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 code</a:t>
            </a:r>
            <a:endParaRPr lang="en-US" sz="10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554" b="-1554"/>
          <a:stretch/>
        </p:blipFill>
        <p:spPr>
          <a:xfrm>
            <a:off x="6429146" y="1972361"/>
            <a:ext cx="161849" cy="133502"/>
          </a:xfrm>
          <a:prstGeom prst="rect">
            <a:avLst/>
          </a:prstGeom>
        </p:spPr>
      </p:pic>
      <p:sp>
        <p:nvSpPr>
          <p:cNvPr id="33" name="Shape 18"/>
          <p:cNvSpPr/>
          <p:nvPr/>
        </p:nvSpPr>
        <p:spPr>
          <a:xfrm>
            <a:off x="8758123" y="2243023"/>
            <a:ext cx="282915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4" name="Text 19"/>
          <p:cNvSpPr txBox="1"/>
          <p:nvPr/>
        </p:nvSpPr>
        <p:spPr>
          <a:xfrm>
            <a:off x="9110167" y="1851660"/>
            <a:ext cx="2553919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instantané</a:t>
            </a:r>
            <a:endParaRPr lang="en-US" sz="100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900770" y="1972361"/>
            <a:ext cx="133502" cy="133502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4520794" y="2245766"/>
            <a:ext cx="7067398" cy="400507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1"/>
          <p:cNvSpPr/>
          <p:nvPr/>
        </p:nvSpPr>
        <p:spPr>
          <a:xfrm>
            <a:off x="4520794" y="2637130"/>
            <a:ext cx="1772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8" name="Text 22"/>
          <p:cNvSpPr txBox="1"/>
          <p:nvPr/>
        </p:nvSpPr>
        <p:spPr>
          <a:xfrm>
            <a:off x="4520794" y="2245766"/>
            <a:ext cx="1843430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Comptes Membres</a:t>
            </a:r>
            <a:endParaRPr lang="en-US" sz="1000" dirty="0"/>
          </a:p>
        </p:txBody>
      </p:sp>
      <p:sp>
        <p:nvSpPr>
          <p:cNvPr id="39" name="Shape 23"/>
          <p:cNvSpPr/>
          <p:nvPr/>
        </p:nvSpPr>
        <p:spPr>
          <a:xfrm>
            <a:off x="6286500" y="2637130"/>
            <a:ext cx="2476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0" name="Text 24"/>
          <p:cNvSpPr txBox="1"/>
          <p:nvPr/>
        </p:nvSpPr>
        <p:spPr>
          <a:xfrm>
            <a:off x="6638544" y="2245766"/>
            <a:ext cx="2200961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Mock (Faux comptes)</a:t>
            </a:r>
            <a:endParaRPr lang="en-US" sz="100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429146" y="2367382"/>
            <a:ext cx="133502" cy="133502"/>
          </a:xfrm>
          <a:prstGeom prst="rect">
            <a:avLst/>
          </a:prstGeom>
        </p:spPr>
      </p:pic>
      <p:sp>
        <p:nvSpPr>
          <p:cNvPr id="42" name="Shape 25"/>
          <p:cNvSpPr/>
          <p:nvPr/>
        </p:nvSpPr>
        <p:spPr>
          <a:xfrm>
            <a:off x="8758123" y="2637130"/>
            <a:ext cx="282915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3" name="Text 26"/>
          <p:cNvSpPr txBox="1"/>
          <p:nvPr/>
        </p:nvSpPr>
        <p:spPr>
          <a:xfrm>
            <a:off x="9139428" y="2245766"/>
            <a:ext cx="2524658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 + Profils réels</a:t>
            </a:r>
            <a:endParaRPr lang="en-US" sz="100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554" b="-1554"/>
          <a:stretch/>
        </p:blipFill>
        <p:spPr>
          <a:xfrm>
            <a:off x="8900770" y="2367382"/>
            <a:ext cx="161849" cy="133502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4520794" y="3032150"/>
            <a:ext cx="1772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6" name="Text 28"/>
          <p:cNvSpPr txBox="1"/>
          <p:nvPr/>
        </p:nvSpPr>
        <p:spPr>
          <a:xfrm>
            <a:off x="4520794" y="2640787"/>
            <a:ext cx="1843430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Fidélité (Óra+)</a:t>
            </a:r>
            <a:endParaRPr lang="en-US" sz="1000" dirty="0"/>
          </a:p>
        </p:txBody>
      </p:sp>
      <p:sp>
        <p:nvSpPr>
          <p:cNvPr id="47" name="Shape 29"/>
          <p:cNvSpPr/>
          <p:nvPr/>
        </p:nvSpPr>
        <p:spPr>
          <a:xfrm>
            <a:off x="6286500" y="3032150"/>
            <a:ext cx="2476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8" name="Text 30"/>
          <p:cNvSpPr txBox="1"/>
          <p:nvPr/>
        </p:nvSpPr>
        <p:spPr>
          <a:xfrm>
            <a:off x="6286500" y="2640787"/>
            <a:ext cx="2553005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Impossible à gérer</a:t>
            </a:r>
            <a:endParaRPr lang="en-US" sz="1000" dirty="0"/>
          </a:p>
        </p:txBody>
      </p:sp>
      <p:sp>
        <p:nvSpPr>
          <p:cNvPr id="49" name="Shape 31"/>
          <p:cNvSpPr/>
          <p:nvPr/>
        </p:nvSpPr>
        <p:spPr>
          <a:xfrm>
            <a:off x="8758123" y="3032150"/>
            <a:ext cx="282915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0" name="Text 32"/>
          <p:cNvSpPr txBox="1"/>
          <p:nvPr/>
        </p:nvSpPr>
        <p:spPr>
          <a:xfrm>
            <a:off x="9120226" y="2640787"/>
            <a:ext cx="2543861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Points &amp; Historique</a:t>
            </a:r>
            <a:endParaRPr lang="en-US" sz="100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2644" b="-2644"/>
          <a:stretch/>
        </p:blipFill>
        <p:spPr>
          <a:xfrm>
            <a:off x="8900770" y="2761488"/>
            <a:ext cx="142646" cy="133502"/>
          </a:xfrm>
          <a:prstGeom prst="rect">
            <a:avLst/>
          </a:prstGeom>
        </p:spPr>
      </p:pic>
      <p:sp>
        <p:nvSpPr>
          <p:cNvPr id="52" name="Shape 33"/>
          <p:cNvSpPr/>
          <p:nvPr/>
        </p:nvSpPr>
        <p:spPr>
          <a:xfrm>
            <a:off x="4520794" y="3034894"/>
            <a:ext cx="7067398" cy="400507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34"/>
          <p:cNvSpPr/>
          <p:nvPr/>
        </p:nvSpPr>
        <p:spPr>
          <a:xfrm>
            <a:off x="4520794" y="3426257"/>
            <a:ext cx="1772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4" name="Text 35"/>
          <p:cNvSpPr txBox="1"/>
          <p:nvPr/>
        </p:nvSpPr>
        <p:spPr>
          <a:xfrm>
            <a:off x="4520794" y="3034894"/>
            <a:ext cx="1843430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Cohérence Données</a:t>
            </a:r>
            <a:endParaRPr lang="en-US" sz="1000" dirty="0"/>
          </a:p>
        </p:txBody>
      </p:sp>
      <p:sp>
        <p:nvSpPr>
          <p:cNvPr id="55" name="Shape 36"/>
          <p:cNvSpPr/>
          <p:nvPr/>
        </p:nvSpPr>
        <p:spPr>
          <a:xfrm>
            <a:off x="6286500" y="3426257"/>
            <a:ext cx="2476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6" name="Text 37"/>
          <p:cNvSpPr txBox="1"/>
          <p:nvPr/>
        </p:nvSpPr>
        <p:spPr>
          <a:xfrm>
            <a:off x="6286500" y="3034894"/>
            <a:ext cx="2553005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Risque de doublons</a:t>
            </a:r>
            <a:endParaRPr lang="en-US" sz="1000" dirty="0"/>
          </a:p>
        </p:txBody>
      </p:sp>
      <p:sp>
        <p:nvSpPr>
          <p:cNvPr id="57" name="Shape 38"/>
          <p:cNvSpPr/>
          <p:nvPr/>
        </p:nvSpPr>
        <p:spPr>
          <a:xfrm>
            <a:off x="8758123" y="3426257"/>
            <a:ext cx="282915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8" name="Text 39"/>
          <p:cNvSpPr txBox="1"/>
          <p:nvPr/>
        </p:nvSpPr>
        <p:spPr>
          <a:xfrm>
            <a:off x="9091879" y="3034894"/>
            <a:ext cx="2572207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unique</a:t>
            </a:r>
            <a:endParaRPr lang="en-US" sz="100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100" b="-1100"/>
          <a:stretch/>
        </p:blipFill>
        <p:spPr>
          <a:xfrm>
            <a:off x="8900770" y="3155594"/>
            <a:ext cx="114300" cy="133502"/>
          </a:xfrm>
          <a:prstGeom prst="rect">
            <a:avLst/>
          </a:prstGeom>
        </p:spPr>
      </p:pic>
      <p:sp>
        <p:nvSpPr>
          <p:cNvPr id="60" name="Shape 40"/>
          <p:cNvSpPr/>
          <p:nvPr/>
        </p:nvSpPr>
        <p:spPr>
          <a:xfrm>
            <a:off x="4520794" y="3820363"/>
            <a:ext cx="1772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1" name="Text 41"/>
          <p:cNvSpPr txBox="1"/>
          <p:nvPr/>
        </p:nvSpPr>
        <p:spPr>
          <a:xfrm>
            <a:off x="4520794" y="3429000"/>
            <a:ext cx="1843430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Commandes</a:t>
            </a:r>
            <a:endParaRPr lang="en-US" sz="1000" dirty="0"/>
          </a:p>
        </p:txBody>
      </p:sp>
      <p:sp>
        <p:nvSpPr>
          <p:cNvPr id="62" name="Shape 42"/>
          <p:cNvSpPr/>
          <p:nvPr/>
        </p:nvSpPr>
        <p:spPr>
          <a:xfrm>
            <a:off x="6286500" y="3820363"/>
            <a:ext cx="24761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3" name="Text 43"/>
          <p:cNvSpPr txBox="1"/>
          <p:nvPr/>
        </p:nvSpPr>
        <p:spPr>
          <a:xfrm>
            <a:off x="6286500" y="3429000"/>
            <a:ext cx="2553005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envisageable</a:t>
            </a:r>
            <a:endParaRPr lang="en-US" sz="1000" dirty="0"/>
          </a:p>
        </p:txBody>
      </p:sp>
      <p:sp>
        <p:nvSpPr>
          <p:cNvPr id="64" name="Shape 44"/>
          <p:cNvSpPr/>
          <p:nvPr/>
        </p:nvSpPr>
        <p:spPr>
          <a:xfrm>
            <a:off x="8758123" y="3820363"/>
            <a:ext cx="282915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5" name="Text 45"/>
          <p:cNvSpPr txBox="1"/>
          <p:nvPr/>
        </p:nvSpPr>
        <p:spPr>
          <a:xfrm>
            <a:off x="9120226" y="3429000"/>
            <a:ext cx="2543861" cy="2962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Tables dédiées</a:t>
            </a:r>
            <a:endParaRPr lang="en-US" sz="1000" dirty="0"/>
          </a:p>
        </p:txBody>
      </p:sp>
      <p:pic>
        <p:nvPicPr>
          <p:cNvPr id="66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2644" b="-2644"/>
          <a:stretch/>
        </p:blipFill>
        <p:spPr>
          <a:xfrm>
            <a:off x="8900770" y="3549701"/>
            <a:ext cx="142646" cy="133502"/>
          </a:xfrm>
          <a:prstGeom prst="rect">
            <a:avLst/>
          </a:prstGeom>
        </p:spPr>
      </p:pic>
      <p:sp>
        <p:nvSpPr>
          <p:cNvPr id="67" name="Shape 46"/>
          <p:cNvSpPr/>
          <p:nvPr/>
        </p:nvSpPr>
        <p:spPr>
          <a:xfrm>
            <a:off x="4520794" y="3824021"/>
            <a:ext cx="7067398" cy="390449"/>
          </a:xfrm>
          <a:prstGeom prst="roundRect">
            <a:avLst>
              <a:gd name="adj" fmla="val 45696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47"/>
          <p:cNvSpPr txBox="1"/>
          <p:nvPr/>
        </p:nvSpPr>
        <p:spPr>
          <a:xfrm>
            <a:off x="4520794" y="3824021"/>
            <a:ext cx="18434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Données Perso.</a:t>
            </a:r>
            <a:endParaRPr lang="en-US" sz="1000" dirty="0"/>
          </a:p>
        </p:txBody>
      </p:sp>
      <p:sp>
        <p:nvSpPr>
          <p:cNvPr id="69" name="Text 48"/>
          <p:cNvSpPr txBox="1"/>
          <p:nvPr/>
        </p:nvSpPr>
        <p:spPr>
          <a:xfrm>
            <a:off x="6286500" y="3824021"/>
            <a:ext cx="25530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LocalStorage (Peu sûr)</a:t>
            </a:r>
            <a:endParaRPr lang="en-US" sz="1000" dirty="0"/>
          </a:p>
        </p:txBody>
      </p:sp>
      <p:sp>
        <p:nvSpPr>
          <p:cNvPr id="70" name="Text 49"/>
          <p:cNvSpPr txBox="1"/>
          <p:nvPr/>
        </p:nvSpPr>
        <p:spPr>
          <a:xfrm>
            <a:off x="9091879" y="3824021"/>
            <a:ext cx="25722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Sécurisé (RLS)</a:t>
            </a:r>
            <a:endParaRPr lang="en-US" sz="1000" dirty="0"/>
          </a:p>
        </p:txBody>
      </p:sp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1100" b="-1100"/>
          <a:stretch/>
        </p:blipFill>
        <p:spPr>
          <a:xfrm>
            <a:off x="8900770" y="3944722"/>
            <a:ext cx="114300" cy="133502"/>
          </a:xfrm>
          <a:prstGeom prst="rect">
            <a:avLst/>
          </a:prstGeom>
        </p:spPr>
      </p:pic>
      <p:sp>
        <p:nvSpPr>
          <p:cNvPr id="72" name="Text 50"/>
          <p:cNvSpPr txBox="1"/>
          <p:nvPr/>
        </p:nvSpPr>
        <p:spPr>
          <a:xfrm>
            <a:off x="609905" y="5762549"/>
            <a:ext cx="11087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5" kern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Feuille de route technique</a:t>
            </a:r>
            <a:endParaRPr lang="en-US" sz="1000" dirty="0"/>
          </a:p>
        </p:txBody>
      </p:sp>
      <p:sp>
        <p:nvSpPr>
          <p:cNvPr id="73" name="Shape 51"/>
          <p:cNvSpPr/>
          <p:nvPr/>
        </p:nvSpPr>
        <p:spPr>
          <a:xfrm>
            <a:off x="609905" y="6067044"/>
            <a:ext cx="3390595" cy="5715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/>
        </p:spPr>
      </p:sp>
      <p:sp>
        <p:nvSpPr>
          <p:cNvPr id="74" name="Shape 52"/>
          <p:cNvSpPr/>
          <p:nvPr/>
        </p:nvSpPr>
        <p:spPr>
          <a:xfrm>
            <a:off x="609905" y="6067044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6B9544"/>
          </a:solidFill>
          <a:ln w="12700">
            <a:solidFill>
              <a:srgbClr val="6B9544">
                <a:alpha val="0"/>
              </a:srgbClr>
            </a:solidFill>
            <a:prstDash val="solid"/>
          </a:ln>
        </p:spPr>
      </p:sp>
      <p:pic>
        <p:nvPicPr>
          <p:cNvPr id="7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6219749"/>
            <a:ext cx="267005" cy="267005"/>
          </a:xfrm>
          <a:prstGeom prst="rect">
            <a:avLst/>
          </a:prstGeom>
        </p:spPr>
      </p:pic>
      <p:sp>
        <p:nvSpPr>
          <p:cNvPr id="76" name="Text 53"/>
          <p:cNvSpPr/>
          <p:nvPr/>
        </p:nvSpPr>
        <p:spPr>
          <a:xfrm>
            <a:off x="800100" y="621974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000" dirty="0"/>
          </a:p>
        </p:txBody>
      </p:sp>
      <p:sp>
        <p:nvSpPr>
          <p:cNvPr id="77" name="Text 54"/>
          <p:cNvSpPr txBox="1"/>
          <p:nvPr/>
        </p:nvSpPr>
        <p:spPr>
          <a:xfrm>
            <a:off x="1181405" y="6181344"/>
            <a:ext cx="18882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472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Configuration Supabase</a:t>
            </a:r>
            <a:endParaRPr lang="en-US" sz="1000" dirty="0"/>
          </a:p>
        </p:txBody>
      </p:sp>
      <p:sp>
        <p:nvSpPr>
          <p:cNvPr id="78" name="Text 55"/>
          <p:cNvSpPr txBox="1"/>
          <p:nvPr/>
        </p:nvSpPr>
        <p:spPr>
          <a:xfrm>
            <a:off x="1181405" y="6372454"/>
            <a:ext cx="20519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Création tables, Auth, Policies RLS</a:t>
            </a:r>
            <a:endParaRPr lang="en-US" sz="900" dirty="0"/>
          </a:p>
        </p:txBody>
      </p:sp>
      <p:pic>
        <p:nvPicPr>
          <p:cNvPr id="79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180" b="-180"/>
          <a:stretch/>
        </p:blipFill>
        <p:spPr>
          <a:xfrm>
            <a:off x="4153205" y="6277356"/>
            <a:ext cx="95098" cy="152705"/>
          </a:xfrm>
          <a:prstGeom prst="rect">
            <a:avLst/>
          </a:prstGeom>
        </p:spPr>
      </p:pic>
      <p:sp>
        <p:nvSpPr>
          <p:cNvPr id="80" name="Shape 56"/>
          <p:cNvSpPr/>
          <p:nvPr/>
        </p:nvSpPr>
        <p:spPr>
          <a:xfrm>
            <a:off x="4401007" y="6067044"/>
            <a:ext cx="3390595" cy="5715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/>
        </p:spPr>
      </p:sp>
      <p:sp>
        <p:nvSpPr>
          <p:cNvPr id="81" name="Shape 57"/>
          <p:cNvSpPr/>
          <p:nvPr/>
        </p:nvSpPr>
        <p:spPr>
          <a:xfrm>
            <a:off x="4401007" y="6067044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6B9544"/>
          </a:solidFill>
          <a:ln w="12700">
            <a:solidFill>
              <a:srgbClr val="6B9544">
                <a:alpha val="0"/>
              </a:srgbClr>
            </a:solidFill>
            <a:prstDash val="solid"/>
          </a:ln>
        </p:spPr>
      </p:sp>
      <p:pic>
        <p:nvPicPr>
          <p:cNvPr id="8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91202" y="6219749"/>
            <a:ext cx="267005" cy="267005"/>
          </a:xfrm>
          <a:prstGeom prst="rect">
            <a:avLst/>
          </a:prstGeom>
        </p:spPr>
      </p:pic>
      <p:sp>
        <p:nvSpPr>
          <p:cNvPr id="83" name="Text 58"/>
          <p:cNvSpPr/>
          <p:nvPr/>
        </p:nvSpPr>
        <p:spPr>
          <a:xfrm>
            <a:off x="4591202" y="621974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000" dirty="0"/>
          </a:p>
        </p:txBody>
      </p:sp>
      <p:sp>
        <p:nvSpPr>
          <p:cNvPr id="84" name="Text 59"/>
          <p:cNvSpPr txBox="1"/>
          <p:nvPr/>
        </p:nvSpPr>
        <p:spPr>
          <a:xfrm>
            <a:off x="4972507" y="6181344"/>
            <a:ext cx="22494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472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Connexion Frontend</a:t>
            </a:r>
            <a:endParaRPr lang="en-US" sz="1000" dirty="0"/>
          </a:p>
        </p:txBody>
      </p:sp>
      <p:sp>
        <p:nvSpPr>
          <p:cNvPr id="85" name="Text 60"/>
          <p:cNvSpPr txBox="1"/>
          <p:nvPr/>
        </p:nvSpPr>
        <p:spPr>
          <a:xfrm>
            <a:off x="4972507" y="6372454"/>
            <a:ext cx="25731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Remplacement des mocks par le client réel</a:t>
            </a:r>
            <a:endParaRPr lang="en-US" sz="900" dirty="0"/>
          </a:p>
        </p:txBody>
      </p:sp>
      <p:pic>
        <p:nvPicPr>
          <p:cNvPr id="86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180" b="-180"/>
          <a:stretch/>
        </p:blipFill>
        <p:spPr>
          <a:xfrm>
            <a:off x="7944307" y="6277356"/>
            <a:ext cx="95098" cy="152705"/>
          </a:xfrm>
          <a:prstGeom prst="rect">
            <a:avLst/>
          </a:prstGeom>
        </p:spPr>
      </p:pic>
      <p:sp>
        <p:nvSpPr>
          <p:cNvPr id="87" name="Shape 61"/>
          <p:cNvSpPr/>
          <p:nvPr/>
        </p:nvSpPr>
        <p:spPr>
          <a:xfrm>
            <a:off x="8191195" y="6067044"/>
            <a:ext cx="3390595" cy="5715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/>
        </p:spPr>
      </p:sp>
      <p:sp>
        <p:nvSpPr>
          <p:cNvPr id="88" name="Shape 62"/>
          <p:cNvSpPr/>
          <p:nvPr/>
        </p:nvSpPr>
        <p:spPr>
          <a:xfrm>
            <a:off x="8191195" y="6067044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6B9544"/>
          </a:solidFill>
          <a:ln w="12700">
            <a:solidFill>
              <a:srgbClr val="6B9544">
                <a:alpha val="0"/>
              </a:srgbClr>
            </a:solidFill>
            <a:prstDash val="solid"/>
          </a:ln>
        </p:spPr>
      </p:sp>
      <p:pic>
        <p:nvPicPr>
          <p:cNvPr id="8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82305" y="6219749"/>
            <a:ext cx="267005" cy="267005"/>
          </a:xfrm>
          <a:prstGeom prst="rect">
            <a:avLst/>
          </a:prstGeom>
        </p:spPr>
      </p:pic>
      <p:sp>
        <p:nvSpPr>
          <p:cNvPr id="90" name="Text 63"/>
          <p:cNvSpPr/>
          <p:nvPr/>
        </p:nvSpPr>
        <p:spPr>
          <a:xfrm>
            <a:off x="8382305" y="621974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000" dirty="0"/>
          </a:p>
        </p:txBody>
      </p:sp>
      <p:sp>
        <p:nvSpPr>
          <p:cNvPr id="91" name="Text 64"/>
          <p:cNvSpPr txBox="1"/>
          <p:nvPr/>
        </p:nvSpPr>
        <p:spPr>
          <a:xfrm>
            <a:off x="8762695" y="6181344"/>
            <a:ext cx="1962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472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Migration &amp; Lancement</a:t>
            </a:r>
            <a:endParaRPr lang="en-US" sz="1000" dirty="0"/>
          </a:p>
        </p:txBody>
      </p:sp>
      <p:sp>
        <p:nvSpPr>
          <p:cNvPr id="92" name="Text 65"/>
          <p:cNvSpPr txBox="1"/>
          <p:nvPr/>
        </p:nvSpPr>
        <p:spPr>
          <a:xfrm>
            <a:off x="8762695" y="6372454"/>
            <a:ext cx="22448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Import menu existant et déploiement</a:t>
            </a:r>
            <a:endParaRPr lang="en-US" sz="900" dirty="0"/>
          </a:p>
        </p:txBody>
      </p:sp>
      <p:pic>
        <p:nvPicPr>
          <p:cNvPr id="93" name="Image 25" descr="preencoded.png">    </p:cNvPr>
          <p:cNvPicPr>
            <a:picLocks noChangeAspect="1"/>
          </p:cNvPicPr>
          <p:nvPr/>
        </p:nvPicPr>
        <p:blipFill>
          <a:blip r:embed="rId26">
            <a:alphaModFix amt="50000"/>
          </a:blip>
          <a:srcRect l="-200" r="-200" t="0" b="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2026-02-12T13:58:45Z</dcterms:created>
  <dcterms:modified xsi:type="dcterms:W3CDTF">2026-02-12T13:58:45Z</dcterms:modified>
</cp:coreProperties>
</file>